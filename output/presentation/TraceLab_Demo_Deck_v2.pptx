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291853567942e1" /><Relationship Type="http://schemas.openxmlformats.org/officeDocument/2006/relationships/extended-properties" Target="/docProps/app.xml" Id="Rab3a49542bb24b90" /><Relationship Type="http://schemas.openxmlformats.org/officeDocument/2006/relationships/officeDocument" Target="/ppt/presentation.xml" Id="Rb4794f2642e043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45afdb5f244001"/>
  </p:sldMasterIdLst>
  <p:notesMasterIdLst>
    <p:notesMasterId xmlns:r="http://schemas.openxmlformats.org/officeDocument/2006/relationships" r:id="R1ec6ad26bb474eb0"/>
  </p:notesMasterIdLst>
  <p:sldIdLst>
    <p:sldId xmlns:r="http://schemas.openxmlformats.org/officeDocument/2006/relationships" id="256" r:id="Re54aacd648fb4c0c"/>
    <p:sldId xmlns:r="http://schemas.openxmlformats.org/officeDocument/2006/relationships" id="257" r:id="R8ed85e2a99894dba"/>
    <p:sldId xmlns:r="http://schemas.openxmlformats.org/officeDocument/2006/relationships" id="258" r:id="Rea92ab5560a346a2"/>
    <p:sldId xmlns:r="http://schemas.openxmlformats.org/officeDocument/2006/relationships" id="259" r:id="R00d34731fec44b46"/>
    <p:sldId xmlns:r="http://schemas.openxmlformats.org/officeDocument/2006/relationships" id="260" r:id="R6a97d39e0bb242e3"/>
    <p:sldId xmlns:r="http://schemas.openxmlformats.org/officeDocument/2006/relationships" id="261" r:id="R2da2bf45abdd41d2"/>
    <p:sldId xmlns:r="http://schemas.openxmlformats.org/officeDocument/2006/relationships" id="262" r:id="R8912a198fdda4f83"/>
    <p:sldId xmlns:r="http://schemas.openxmlformats.org/officeDocument/2006/relationships" id="263" r:id="R14c9b676f8ef46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96b3f396424361" /><Relationship Type="http://schemas.openxmlformats.org/officeDocument/2006/relationships/slideMaster" Target="/ppt/slideMasters/slideMaster1.xml" Id="R2945afdb5f244001" /><Relationship Type="http://schemas.openxmlformats.org/officeDocument/2006/relationships/notesMaster" Target="/ppt/notesMasters/notesMaster1.xml" Id="R1ec6ad26bb474eb0" /><Relationship Type="http://schemas.openxmlformats.org/officeDocument/2006/relationships/presProps" Target="/ppt/presProps.xml" Id="R471f1f4a00ae43cc" /><Relationship Type="http://schemas.openxmlformats.org/officeDocument/2006/relationships/tableStyles" Target="/ppt/tableStyles.xml" Id="R47e1327d5378420d" /><Relationship Type="http://schemas.openxmlformats.org/officeDocument/2006/relationships/slide" Target="/ppt/slides/slide1.xml" Id="Re54aacd648fb4c0c" /><Relationship Type="http://schemas.openxmlformats.org/officeDocument/2006/relationships/slide" Target="/ppt/slides/slide2.xml" Id="R8ed85e2a99894dba" /><Relationship Type="http://schemas.openxmlformats.org/officeDocument/2006/relationships/slide" Target="/ppt/slides/slide3.xml" Id="Rea92ab5560a346a2" /><Relationship Type="http://schemas.openxmlformats.org/officeDocument/2006/relationships/slide" Target="/ppt/slides/slide4.xml" Id="R00d34731fec44b46" /><Relationship Type="http://schemas.openxmlformats.org/officeDocument/2006/relationships/slide" Target="/ppt/slides/slide5.xml" Id="R6a97d39e0bb242e3" /><Relationship Type="http://schemas.openxmlformats.org/officeDocument/2006/relationships/slide" Target="/ppt/slides/slide6.xml" Id="R2da2bf45abdd41d2" /><Relationship Type="http://schemas.openxmlformats.org/officeDocument/2006/relationships/slide" Target="/ppt/slides/slide7.xml" Id="R8912a198fdda4f83" /><Relationship Type="http://schemas.openxmlformats.org/officeDocument/2006/relationships/slide" Target="/ppt/slides/slide8.xml" Id="R14c9b676f8ef46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2fbf95108446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9dbf14d02eb446d" /><Relationship Type="http://schemas.openxmlformats.org/officeDocument/2006/relationships/notesMaster" Target="/ppt/notesMasters/notesMaster1.xml" Id="Rea3f8f1d765a40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4cd511b1844779" /><Relationship Type="http://schemas.openxmlformats.org/officeDocument/2006/relationships/notesMaster" Target="/ppt/notesMasters/notesMaster1.xml" Id="R67db41ce9bcd41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0b3dc80c4b41ac" /><Relationship Type="http://schemas.openxmlformats.org/officeDocument/2006/relationships/notesMaster" Target="/ppt/notesMasters/notesMaster1.xml" Id="R50fe2b9acfb4494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08917954b2420b" /><Relationship Type="http://schemas.openxmlformats.org/officeDocument/2006/relationships/notesMaster" Target="/ppt/notesMasters/notesMaster1.xml" Id="Rdbaae83b710b41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b403ebf79b4989" /><Relationship Type="http://schemas.openxmlformats.org/officeDocument/2006/relationships/notesMaster" Target="/ppt/notesMasters/notesMaster1.xml" Id="R09ce561b53244c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ea4d706c364151" /><Relationship Type="http://schemas.openxmlformats.org/officeDocument/2006/relationships/notesMaster" Target="/ppt/notesMasters/notesMaster1.xml" Id="R387dcadd25144d2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343be5ddc104b63" /><Relationship Type="http://schemas.openxmlformats.org/officeDocument/2006/relationships/notesMaster" Target="/ppt/notesMasters/notesMaster1.xml" Id="R6ff002999f0749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31d64d8c2842d4" /><Relationship Type="http://schemas.openxmlformats.org/officeDocument/2006/relationships/notesMaster" Target="/ppt/notesMasters/notesMaster1.xml" Id="Ra45b59f0ae6346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summary source: docs/plans/idea and AGENTS.md.</a:t>
            </a:r>
          </a:p>
          <a:p xmlns:a="http://schemas.openxmlformats.org/drawingml/2006/main">
            <a:r>
              <a:t>Opening line: TraceLab treats debugging as differential diagnosis, then demands reproducible evidence before recommending a fix.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docs/plans/idea, sections 2 and 4.</a:t>
            </a:r>
          </a:p>
          <a:p xmlns:a="http://schemas.openxmlformats.org/drawingml/2006/main">
            <a:r>
              <a:t>Emphasize that TraceLab addresses proof, not only code 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docs/plans/idea, sections 3, 8, 10, and AGENTS.md.</a:t>
            </a:r>
          </a:p>
          <a:p xmlns:a="http://schemas.openxmlformats.org/drawingml/2006/main">
            <a:r>
              <a:t>The arbiter is constrained by verified evidence; model confidence cannot select the winner.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 architecture and investigation states; docs/plans/idea, section 8.</a:t>
            </a:r>
          </a:p>
          <a:p xmlns:a="http://schemas.openxmlformats.org/drawingml/2006/main">
            <a:r>
              <a:t>The platform uses isolated worktrees to prevent one hypothesis from contaminating another.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AGENTS.md, Core Verification Contract.</a:t>
            </a:r>
          </a:p>
          <a:p xmlns:a="http://schemas.openxmlformats.org/drawingml/2006/main">
            <a:r>
              <a:t>For flaky bugs, TraceLab repeats experiments instead of accepting a single passing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uses an illustrative debugging scenario assembled for the demo deck. The values are not product telemetry.</a:t>
            </a:r>
          </a:p>
          <a:p xmlns:a="http://schemas.openxmlformats.org/drawingml/2006/main">
            <a:r>
              <a:t>The workflow and evidence fields match implemented TraceLab entities in backend/app/db/models.py and the dashboard components.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images: bob_sessions/task3_finish.png, task4_finish.png, and task_finish.png.</a:t>
            </a:r>
          </a:p>
          <a:p xmlns:a="http://schemas.openxmlformats.org/drawingml/2006/main">
            <a:r>
              <a:t>Repository contains 14 exported Bob session screenshots. The listed contribution areas map to docs/plans and implemented backend/frontend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Repository URL source: git remote origin in the project workspace.</a:t>
            </a:r>
          </a:p>
          <a:p xmlns:a="http://schemas.openxmlformats.org/drawingml/2006/main">
            <a:r>
              <a:t>Close by reinforcing the product principle: Hypothesis, Experiment, Evidence,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bcd705816b43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f8d6ec93f445a7" /><Relationship Type="http://schemas.openxmlformats.org/officeDocument/2006/relationships/slideLayout" Target="/ppt/slideLayouts/slideLayout1.xml" Id="R916b24137fdc49d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16b24137fdc49d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adfcf3d2974111" /><Relationship Type="http://schemas.openxmlformats.org/officeDocument/2006/relationships/notesSlide" Target="/ppt/notesSlides/notesSlide1.xml" Id="R44afec3823e342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c415a99d440d3" /><Relationship Type="http://schemas.openxmlformats.org/officeDocument/2006/relationships/notesSlide" Target="/ppt/notesSlides/notesSlide2.xml" Id="R4c1f1c76c9a74e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bff234c8404f69" /><Relationship Type="http://schemas.openxmlformats.org/officeDocument/2006/relationships/notesSlide" Target="/ppt/notesSlides/notesSlide3.xml" Id="R969819ec11134c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ebe3f088664d5f" /><Relationship Type="http://schemas.openxmlformats.org/officeDocument/2006/relationships/notesSlide" Target="/ppt/notesSlides/notesSlide4.xml" Id="R11535ca3dd3e47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ff3238396497a" /><Relationship Type="http://schemas.openxmlformats.org/officeDocument/2006/relationships/notesSlide" Target="/ppt/notesSlides/notesSlide5.xml" Id="R097a50d58f0343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4221d4a174f2d" /><Relationship Type="http://schemas.openxmlformats.org/officeDocument/2006/relationships/notesSlide" Target="/ppt/notesSlides/notesSlide6.xml" Id="R093d4ae8323d40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a9c5675567479a" /><Relationship Type="http://schemas.openxmlformats.org/officeDocument/2006/relationships/image" Target="/ppt/media/image.png" Id="R4e75e6da70b54b9a" /><Relationship Type="http://schemas.openxmlformats.org/officeDocument/2006/relationships/image" Target="/ppt/media/image2.png" Id="R147116f14aaa435d" /><Relationship Type="http://schemas.openxmlformats.org/officeDocument/2006/relationships/image" Target="/ppt/media/image3.png" Id="Rda530a7e954a4fb4" /><Relationship Type="http://schemas.openxmlformats.org/officeDocument/2006/relationships/notesSlide" Target="/ppt/notesSlides/notesSlide7.xml" Id="R434778c33b5346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984b3946d4aca" /><Relationship Type="http://schemas.openxmlformats.org/officeDocument/2006/relationships/notesSlide" Target="/ppt/notesSlides/notesSlide8.xml" Id="R5323ef6e7f4e4f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F03050-F6E2-4458-8138-4067C3A5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97E3EC-41AA-4A89-9456-BBB7E3B0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CC4B0-3022-4F2A-90B9-EBF4D3A3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57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870CB-0D2E-48A0-9BB7-38C893AF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6858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rPr>
              <a:t>Evidence-driven debugging</a:t>
            </a:r>
          </a:p>
          <a:p xmlns:a="http://schemas.openxmlformats.org/drawingml/2006/main">
            <a:pPr algn="l">
              <a:def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850" b="1" i="0">
                <a:solidFill>
                  <a:srgbClr val="095446"/>
                </a:solidFill>
                <a:latin typeface="Liberation Sans"/>
                <a:ea typeface="Liberation Sans"/>
                <a:cs typeface="Liberation Sans"/>
              </a:rPr>
              <a:t>for AI-assisted engineering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879694-6B83-4FAA-BE5F-12C66E0C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A multi-agent platform that investigates competing root-cause hypotheses in parallel and verifies fixes with fail-before, pass-after regression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5D3F5C-0A80-462B-B7FB-82518867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66750"/>
            <a:ext cx="3619500" cy="49530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93991B-3FA0-45E7-BBC3-ADF7519C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1049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703E94-E4FB-4E75-8D61-6A1535D7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52600"/>
            <a:ext cx="2571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independent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investigations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7E011A-4C72-457C-BEAD-A98868C7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03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28534-AC27-45F5-A805-4CAB2A3D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1051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1D1F04-9EEC-4FD2-9EF5-741DB54C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proof conditions</a:t>
            </a:r>
          </a:p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for every verified fix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82683B-660A-4BE0-AC3A-4A10E828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815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4B13E-933F-4DC7-8198-ED4E8668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010150"/>
            <a:ext cx="85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3A4A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F3A4A4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AB0A0-9513-4913-8D3A-52E78114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076825"/>
            <a:ext cx="190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human decision before PR creation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23143A-ACEA-483F-9053-0374BEDA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91200"/>
            <a:ext cx="1257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E52C08-9AF1-4381-890D-26BC328F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57875"/>
            <a:ext cx="1066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AGENTIC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223291-B42A-4D54-97DC-A9BDFD7E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91200"/>
            <a:ext cx="11239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011ED2-5F9C-4E46-A619-B84A814F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857875"/>
            <a:ext cx="93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DEBUGGING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ED5CB4-D8B9-427E-BB92-49682F78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7912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6EE551-DDD2-45EF-8E6D-25F4DB2A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57875"/>
            <a:ext cx="1295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SOFTWARE TESTING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D33F1-5E84-4C99-9B62-28439405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5791200"/>
            <a:ext cx="1428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0">
            <a:solidFill>
              <a:srgbClr val="DDEEE7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2BFBA-B65B-44F6-ACFD-70600890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585787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DEVELOPER TOOLS</a:t>
            </a:r>
          </a:p>
        </p:txBody>
      </p:sp>
    </p:spTree>
    <p:extLst>
      <p:ext uri="{BB962C8B-B14F-4D97-AF65-F5344CB8AC3E}">
        <p14:creationId xmlns:p14="http://schemas.microsoft.com/office/powerpoint/2010/main" val="20558000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3F5503-CF29-472E-B320-BE3B3A7F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AEAF2-CF61-4C03-922C-9819F6CE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337C0-DDD4-412D-AA2A-CF278F40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AI debugging often stops at the first plausible answer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D26F90-7F53-4D98-AE72-5CB40120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4857750" cy="37338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326FD-21AA-40A5-8C2E-5C1B7294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DCC4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900" b="1" i="0">
                <a:solidFill>
                  <a:srgbClr val="8ADCC4"/>
                </a:solidFill>
                <a:latin typeface="DejaVu Sans Mono"/>
                <a:ea typeface="DejaVu Sans Mono"/>
                <a:cs typeface="DejaVu Sans Mono"/>
              </a:rPr>
              <a:t>TYPICAL AGENT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F500E-11CE-4E8B-AA31-D8DAD61DE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01  BUG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FBEC0-3AF5-43C0-B34A-006D3EA5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0956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CA4DC9-C6FC-49E9-A78F-AD0551BBB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289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02  INSPECT 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01AD1-DB59-450C-819D-195618D7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54330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8F9DE-4764-4297-8344-FBE88A22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rPr>
              <a:t>03  ASSUME CAUSE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45F6E-C5F1-4AEB-8AF7-0448518A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9097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52112-6FFE-4E17-B720-56909049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2432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04  PATCH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B2F8D-543E-493B-86F0-F2068518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438650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EA344F-BB69-41F1-A54E-588342CA7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72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0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05  TESTS GREEN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F819C1-E098-4F6C-B6E4-8FE80B00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886325"/>
            <a:ext cx="9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6863"/>
          </a:solidFill>
          <a:ln xmlns:a="http://schemas.openxmlformats.org/drawingml/2006/main" w="0">
            <a:solidFill>
              <a:srgbClr val="4E686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3854C-6461-4CDE-96E2-0F99FBBA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196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4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06  DECLARE FIXED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0E5B4-BD36-4A3A-A9B3-99A87EE1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09800"/>
            <a:ext cx="5048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 passing suite does not prove the reported bug was fixed.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035530-6B81-4617-88DE-FA92D159B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147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9940B-C355-482E-ADC6-1FB04D85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95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Multiple causes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98F029-D4E0-4DC3-AD0D-9964AD7B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004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same symptom can fit several plausible explanations.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B538F2-1AC9-454F-9C35-0B10EF45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1005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9C375-529B-4A37-80A6-FA7AF3B4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910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Weak proof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856D37-DAEC-4907-9CBA-08E357FF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9580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Existing tests may pass without reproducing the reported failure.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55225C-F064-47A3-A84B-678B20B7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40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460D0-4613-4E74-9FE6-0C6AA336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86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Sequential waste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D7E15-F7A8-41E5-960F-4EA555575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91150"/>
            <a:ext cx="447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A wrong hypothesis consumes time before alternatives are considered.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C841A-F336-46F8-B903-29856356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C4EE8E-D43B-482F-A025-FE04EF36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593A6-34C4-4FE3-9AC0-87A71A57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4E8665-F1AE-433D-B11F-01D20BF5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57377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FBD1B3-B952-4EBF-AF2F-19D4AA23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ADC15E-3080-48BF-B6D0-3E1EC70F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35B546-8518-467A-86A6-4D02D77B5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TraceLab investigates competing causes before choosing a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33173-D8EA-4FA1-A1FF-FBE24557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342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3F709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0AF4B4-F4AA-4E9D-8C4E-89B6388A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050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rPr>
              <a:t>CODE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5A8010-0984-4114-98CB-375BFDD5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62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Follows execution flow and state changes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C28E9-69C1-4ECE-8737-9336FFEC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90900"/>
            <a:ext cx="342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D7"/>
          </a:solidFill>
          <a:ln xmlns:a="http://schemas.openxmlformats.org/drawingml/2006/main" w="19050">
            <a:solidFill>
              <a:srgbClr val="C1842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56C19-1BE2-4C29-A0BE-8267781B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337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rPr>
              <a:t>GIT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B6F72-5266-4904-801F-2AF4531E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Tests whether recent changes explain the regression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340465-20B6-4B7C-B952-E01D3CB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3429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B64E5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647840-DDE9-49F3-B018-30379D14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62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TEST BEHAVIOR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3AA28-0E30-4F1C-8BD5-03D14BBF5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19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Builds reproductions and probes edge conditions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40FD91-6D9E-4CD6-BD2B-F6CB27D8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00350"/>
            <a:ext cx="2628900" cy="201930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60482F-C503-431E-85BD-C89844D7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194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VERIFICATION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4EFA4-73A9-4B2B-AD82-783B7983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52850"/>
            <a:ext cx="1847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rPr>
              <a:t>Isolated worktree</a:t>
            </a:r>
          </a:p>
          <a:p xmlns:a="http://schemas.openxmlformats.org/drawingml/2006/main">
            <a:pPr algn="ctr">
              <a:def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rPr>
              <a:t>Regression test</a:t>
            </a:r>
          </a:p>
          <a:p xmlns:a="http://schemas.openxmlformats.org/drawingml/2006/main">
            <a:pPr algn="ctr">
              <a:def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BFD8D0"/>
                </a:solidFill>
                <a:latin typeface="Liberation Sans"/>
                <a:ea typeface="Liberation Sans"/>
                <a:cs typeface="Liberation Sans"/>
              </a:rPr>
              <a:t>Before-and-after proof</a:t>
            </a:r>
          </a:p>
        </p:txBody>
      </p:sp>
      <p:cxnSp>
        <p:nvCxnSpPr>
          <p:cNvPr id="46" name=""/>
          <p:cNvCxnSpPr>
            <a:stCxn xmlns:a="http://schemas.openxmlformats.org/drawingml/2006/main" id="4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95750" y="2752725"/>
            <a:ext cx="1238250" cy="1057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headEnd type="arrow" w="sm" len="sm"/>
          </a:ln>
        </p:spPr>
      </p:cxnSp>
      <p:cxnSp>
        <p:nvCxnSpPr>
          <p:cNvPr id="47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095750" y="3781425"/>
            <a:ext cx="12382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headEnd type="arrow" w="sm" len="sm"/>
          </a:ln>
        </p:spPr>
      </p:cxnSp>
      <p:cxnSp>
        <p:nvCxnSpPr>
          <p:cNvPr id="48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4095750" y="3810000"/>
            <a:ext cx="123825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head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92D052-959E-4B77-92EC-4987A884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28900"/>
            <a:ext cx="25717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19050">
            <a:solidFill>
              <a:srgbClr val="126C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6D457-5FFD-45C7-B1A2-FC33296C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ARBITER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E604B-9C18-40C0-BE14-345096B0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00400"/>
            <a:ext cx="188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Compares evidence, not 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CDF5A7-41DF-4007-8D3F-48E0F4BA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95750"/>
            <a:ext cx="2571750" cy="1009650"/>
          </a:xfrm>
          <a:prstGeom xmlns:a="http://schemas.openxmlformats.org/drawingml/2006/main" prst="roundRect">
            <a:avLst>
              <a:gd name="adj" fmla="val 132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184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3D109-E56A-45A9-A9D5-ACF5BE11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3243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 i="0">
                <a:solidFill>
                  <a:srgbClr val="C18423"/>
                </a:solidFill>
                <a:latin typeface="Liberation Sans"/>
                <a:ea typeface="Liberation Sans"/>
                <a:cs typeface="Liberation Sans"/>
              </a:rPr>
              <a:t>HUMAN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ACCC95-9B0B-4E44-8801-59DE5223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66725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Approval remains mandatory before a PR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7962900" y="3133725"/>
            <a:ext cx="89535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26C5C"/>
            </a:solidFill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19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0144125" y="3638550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18423"/>
            </a:solidFill>
            <a:headEnd type="arrow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0A7FFFC-A98B-4525-AC23-807A9C8C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6B7C37-10F5-42E4-BC34-BE0E110D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AED79-6B0C-4751-9FF3-038D3C77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1B87A1-5E4A-435B-86C3-4BB4A3F8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03980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831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E5C219-2D41-4938-9EBD-63DB8EC7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D1C6B9-13F5-414E-9E20-925D1A03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SYSTEM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58DCD0-022E-45B2-8F9C-A02E1027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One ticket becomes three independent investigations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A75C54-08EF-4BEF-A075-06AC4139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Each branch produces a hypothesis that must survive the same verification contract.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5E126-010C-4BA8-8F21-1CB14ACF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F8C36-15BC-4490-9753-0D165352E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13669-8CE3-4B2D-B552-C238130C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BUG INTAKE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CF473-DB9E-4231-88CF-160BCB29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Normalize symptom, expected behavior and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B8223C-D9C9-4011-ABEA-5CDCA936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67D0AD-6084-4F62-9FD7-6BC1BE2F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38ADB1-C87B-489B-B460-8DB74BB5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PARALLEL INVESTIGATION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B11B59-85E5-468C-B715-A0DD3719C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Code path, Git history and test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6BF85-7913-4CC1-A0FF-CEE22B9A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81D1B-842D-44E6-A8CF-276A5A71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8535E0-FC44-4638-9C41-67CACE74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ISOLATED EXPERIMENTS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E5B03-69CF-4197-B919-9BFB63E6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One Git worktree per hypothesis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D29011-5CFC-466D-A0A0-8E36B0E01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213D39"/>
          </a:solidFill>
          <a:ln xmlns:a="http://schemas.openxmlformats.org/drawingml/2006/main" w="9525">
            <a:solidFill>
              <a:srgbClr val="4562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3BED50-4000-49C8-A34F-CA695559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00347-50C8-45B9-B5F3-588C72D7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ARBITRATION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78CF25-57DC-4F2C-B5EC-7E29F3035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BFD0CB"/>
                </a:solidFill>
                <a:latin typeface="Liberation Sans"/>
                <a:ea typeface="Liberation Sans"/>
                <a:cs typeface="Liberation Sans"/>
              </a:rPr>
              <a:t>Select only among evidence-qualified hypotheses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F2F3E-8B47-4F2F-A124-0E42332F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1962150" cy="2381250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126C5C"/>
          </a:solidFill>
          <a:ln xmlns:a="http://schemas.openxmlformats.org/drawingml/2006/main" w="9525">
            <a:solidFill>
              <a:srgbClr val="126C5C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4E4DA0-C009-4F16-A314-8C49E95E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1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B42763-DA6D-440F-AEF3-94A77661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29000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HUMAN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A4D3DE-5097-4BEF-BD41-5FD392F0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38600"/>
            <a:ext cx="152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D6EAE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D6EAE4"/>
                </a:solidFill>
                <a:latin typeface="Liberation Sans"/>
                <a:ea typeface="Liberation Sans"/>
                <a:cs typeface="Liberation Sans"/>
              </a:rPr>
              <a:t>Approve or reject before pull-request creation</a:t>
            </a:r>
          </a:p>
        </p:txBody>
      </p:sp>
      <p:cxnSp>
        <p:nvCxnSpPr>
          <p:cNvPr id="57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95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headEnd type="arrow" w="sm" len="sm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81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headEnd type="arrow" w="sm" len="sm"/>
          </a:ln>
        </p:spPr>
      </p:cxnSp>
      <p:cxnSp>
        <p:nvCxnSpPr>
          <p:cNvPr id="59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67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headEnd type="arrow" w="sm" len="sm"/>
          </a:ln>
        </p:spPr>
      </p:cxnSp>
      <p:cxnSp>
        <p:nvCxnSpPr>
          <p:cNvPr id="60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353550" y="381952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8ADCC4"/>
            </a:solidFill>
            <a:headEnd type="arrow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8DE324-94C5-483A-9BA7-DCC8A2BF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1" i="0">
                <a:solidFill>
                  <a:srgbClr val="F0C56B"/>
                </a:solidFill>
                <a:latin typeface="Liberation Sans"/>
                <a:ea typeface="Liberation Sans"/>
                <a:cs typeface="Liberation Sans"/>
              </a:rPr>
              <a:t>No auto-merge. PR creation requires prior approval.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F6808E-78FA-493E-B5AA-D06F353B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9F2458-AF11-4571-9C45-70A14958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4230F8-C73D-492E-8565-5BF0E96E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035487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8AC99F-B3BC-4BCD-AA23-4369AE887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21AFEC-B9EB-4E27-BCF2-817161562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VERIFICATION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919F1C-CF9B-46CA-B448-8591D1D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 hypothesis is verified only when all four proofs hold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B12B8E-2DEE-45DF-9BE7-B2A76E2DB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8F0F6"/>
          </a:solidFill>
          <a:ln xmlns:a="http://schemas.openxmlformats.org/drawingml/2006/main" w="19050">
            <a:solidFill>
              <a:srgbClr val="3F7094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840B17-6C13-4D68-8C4C-85DA443A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6747C9-3DDD-4F7C-ADD0-78817A9F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REPRODUCE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11649-AA71-4A3C-9A4D-55A2DBC8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Original symptom reproduced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88F5E6-FEB1-443E-A620-410625DA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3F7094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4148F8-670D-40BB-8CC5-2D37ACE3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CE8E8"/>
          </a:solidFill>
          <a:ln xmlns:a="http://schemas.openxmlformats.org/drawingml/2006/main" w="19050">
            <a:solidFill>
              <a:srgbClr val="B64E5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70620-B5A0-4674-ACB2-7DAC457A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F4B3E-DF8B-43CC-A20C-2F962AC6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FAIL BEFORE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C88A29-B65C-4DB5-816C-5B51AD46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Regression test fails on original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9B5EB-C8F3-4D59-8546-91EF536D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A0FCA-E5F7-497F-B3F2-5D1F4629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F5EB"/>
          </a:solidFill>
          <a:ln xmlns:a="http://schemas.openxmlformats.org/drawingml/2006/main" w="19050">
            <a:solidFill>
              <a:srgbClr val="168A6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2B5B2-E020-48DD-88BC-6269558B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16BFC-AA59-4582-A219-7F5F97B3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PASS AFTER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9D919-5FC6-47C9-8456-F075C009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The same test passes after the fix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8E0289-00C8-4E66-99A3-DE218799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2C88D9-C803-4259-84A9-CD124B3E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05050"/>
            <a:ext cx="2514600" cy="28003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EEE7"/>
          </a:solidFill>
          <a:ln xmlns:a="http://schemas.openxmlformats.org/drawingml/2006/main" w="19050">
            <a:solidFill>
              <a:srgbClr val="126C5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FAE4F-6202-464D-ACBA-A457AB25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5270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D5DAD1-AF75-43B7-9B54-7B7B2CF2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71850"/>
            <a:ext cx="2057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SUITE PASSES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F2CF2-497E-4DA0-AE46-7CDB5E41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433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Relevant existing tests remain green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AEE1A8-0002-455C-A695-388F8305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2440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REQUIRED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FEBA6B-60C0-4C67-8DAF-A92C805D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91150"/>
            <a:ext cx="109347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8312E"/>
          </a:solidFill>
          <a:ln xmlns:a="http://schemas.openxmlformats.org/drawingml/2006/main" w="0">
            <a:solidFill>
              <a:srgbClr val="18312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315D7-33C1-4446-B396-9D0A57B3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725" b="1" i="0">
                <a:solidFill>
                  <a:srgbClr val="FFFFFF"/>
                </a:solidFill>
                <a:latin typeface="DejaVu Sans Mono"/>
                <a:ea typeface="DejaVu Sans Mono"/>
                <a:cs typeface="DejaVu Sans Mono"/>
              </a:rPr>
              <a:t>VERIFIED = reproduction + fail-before + pass-after + existing tests 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BCBC0-778B-460F-B9F5-1BD8D86A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58FBC1-EF77-4806-9400-A4018148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DF65B2-D5E9-4F25-8DD0-2C54AAEA0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5F61DF-2D26-4624-9FE6-9061F04F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2864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6B3C83-BA09-4B7B-91D0-0D806707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33CCFA-BC59-4D6E-91CE-5EB092501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ILLUSTRATIVE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78B039-0C95-4F40-91BF-2BC3F3EBC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Concurrent retries expose an idempotency 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4A302-4E0F-4ECB-B6CC-85B6A9B73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0495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Demo scenario for presentation purposes; results below are illustrative, not production telemetry.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04164-EBE8-46EE-BA49-85F5B150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4572000" cy="354330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E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E7CC8B-656E-4DB9-8988-4C8F345D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574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PVS-421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620EC-668C-4EB9-A145-517804A1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3829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Duplicate payment records during concurrent retries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DA39B9-F2F2-4E51-AC61-0AE74058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38550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8B141-A138-41F9-9E34-9608AD57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H1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5E331-558F-4B39-951B-4E49ABCA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433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Transaction 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E93960-7DD4-4596-B081-9A0BD228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9624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VERIFIED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9E77EC-E62F-4695-AD4A-F4BD3A53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H2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BE9612-3DF8-4A4D-95C4-8CE252F0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Client retry change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4A63D5-B16E-4547-AD6D-2C52363F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REJECTED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B36F2-6258-4478-87A8-16C29FAD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26C5C"/>
                </a:solidFill>
                <a:latin typeface="DejaVu Sans Mono"/>
                <a:ea typeface="DejaVu Sans Mono"/>
                <a:cs typeface="DejaVu Sans Mono"/>
              </a:rPr>
              <a:t>H3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AB9E67-3364-4E36-88B5-B1468C8C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720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Contaminated fixture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87CA09-27ED-43D3-AF4D-49BC56712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991100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825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REJECTED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756B0E-7B7B-4917-92CE-8A15D787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24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BEFORE FIX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480197-2806-4B39-BA31-BA15A626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6289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 i="0">
                <a:solidFill>
                  <a:srgbClr val="B64E55"/>
                </a:solidFill>
                <a:latin typeface="Liberation Sans"/>
                <a:ea typeface="Liberation Sans"/>
                <a:cs typeface="Liberation Sans"/>
              </a:rPr>
              <a:t>37/50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55DA57-0907-4FCB-B251-56816767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3147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reproduction runs failed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62D271-7AA6-43D3-AEA2-381F20DC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AFTER FIX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E5F2C-72AE-4BEE-A7DE-AB1775F3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289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600" b="1" i="0">
                <a:solidFill>
                  <a:srgbClr val="168A68"/>
                </a:solidFill>
                <a:latin typeface="Liberation Sans"/>
                <a:ea typeface="Liberation Sans"/>
                <a:cs typeface="Liberation Sans"/>
              </a:rPr>
              <a:t>0/50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4B5E2-B62D-433F-8CC2-AAB4DE5A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238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reproduction runs failed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7F107A-F4A7-4012-8226-C302FE01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94335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6ECEFD-E4DE-4BD3-8367-E48601A7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2481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Verified cause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DD148A-D60F-451B-9332-29970B61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610100"/>
            <a:ext cx="514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The lookup and insert were not protected by one database transaction or a uniqueness constraint.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7131A8-A7C6-4402-807B-558F919EA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467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Recommended action: approve the verified patch and create a draft pull request.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DCB37F-4C5B-42EF-80BA-CAA4B32FB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4989F7-C83D-43A6-B9C6-EDCB4A25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032B14-A3B6-4BAA-AD04-0D060665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62F932-F170-4A8C-93CA-F3BDF7A1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872335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109742-1097-4BEA-914B-D35089BB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6961AB-BA30-4AA7-AF50-5F4F97DD3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USAGE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F48CF7-5E84-41E4-89D7-03AAD289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6200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22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IBM Bob supported the build from architecture through verification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5e6da70b54b9a"/>
          <a:srcRect xmlns:a="http://schemas.openxmlformats.org/drawingml/2006/main" l="0" t="22266" r="0" b="222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133600"/>
            <a:ext cx="3810000" cy="1676400"/>
          </a:xfrm>
          <a:prstGeom xmlns:a="http://schemas.openxmlformats.org/drawingml/2006/main" prst="roundRect">
            <a:avLst>
              <a:gd name="adj" fmla="val 6818"/>
            </a:avLst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7116f14aaa435d"/>
          <a:srcRect xmlns:a="http://schemas.openxmlformats.org/drawingml/2006/main" l="0" t="24034" r="0" b="240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4038600"/>
            <a:ext cx="3810000" cy="1676400"/>
          </a:xfrm>
          <a:prstGeom xmlns:a="http://schemas.openxmlformats.org/drawingml/2006/main" prst="roundRect">
            <a:avLst>
              <a:gd name="adj" fmla="val 6818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30a7e954a4fb4"/>
          <a:srcRect xmlns:a="http://schemas.openxmlformats.org/drawingml/2006/main" l="20418" t="0" r="204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2133600"/>
            <a:ext cx="3390900" cy="3581400"/>
          </a:xfrm>
          <a:prstGeom xmlns:a="http://schemas.openxmlformats.org/drawingml/2006/main" prst="roundRect">
            <a:avLst>
              <a:gd name="adj" fmla="val 3371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7D276-FC86-4F7D-AF71-8DFC47A4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71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Bob helped define and implement: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D5A886-B3FE-4182-9432-FC084BCD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71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39EED-DF3A-431D-A5DA-0E509A1BD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241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Architecture and implementation plans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56088-D83C-455F-829F-CE9684B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19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776ADA-0FA1-4A83-9863-CA5F2B77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7182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Database schema and API contracts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298E57-2C48-48A3-890C-D6E41599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C3CBD-C321-4442-A404-BE268FDC8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Allowlisted code, Git and test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11A8A9-47C3-4773-A765-D4EAE961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1D2CD-5A9B-457F-B413-16C895DF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6717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Isolated hypothesis worktrees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7E232-F48F-4B1A-A103-10256CAB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62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014DBC-4AB2-464F-A384-33E5A252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514850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Investigation and arbiter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56B69-5644-4C16-8BD9-265F0D4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010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C"/>
          </a:solidFill>
          <a:ln xmlns:a="http://schemas.openxmlformats.org/drawingml/2006/main" w="0">
            <a:solidFill>
              <a:srgbClr val="126C5C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E305AB-A3B2-4575-BA90-8AA33E14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62525"/>
            <a:ext cx="289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Verification engine and review dashboard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7DBDEF-D2EF-4AAD-985C-73D9EF9B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54355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83B529-563D-4C69-B4E8-17276846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15000"/>
            <a:ext cx="704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325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14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A809AB-19A8-4226-B3CF-DA30809D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781675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050" b="0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exported Bob session screenshots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F65BD4-6FDE-41DC-A6A5-52BD9D3F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1ECAA-8003-4AB5-91E7-00B42070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4899E1-958F-4007-ABFE-AF06E45A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5722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687B76"/>
                </a:solidFill>
                <a:latin typeface="Liberation Sans"/>
                <a:ea typeface="Liberation Sans"/>
                <a:cs typeface="Liberation Sans"/>
              </a:rPr>
              <a:t>IBM BOB HACKATHON · DEMO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5C2D3F-4740-460B-8562-CFA13A0C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5845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1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1E372-EAB6-4D6C-BA99-060FA678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TRACE LAB · 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DFEFC-C11C-413B-A89A-BCAF48BF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52550"/>
            <a:ext cx="695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Evidence decides.</a:t>
            </a:r>
          </a:p>
          <a:p xmlns:a="http://schemas.openxmlformats.org/drawingml/2006/main">
            <a:pPr algn="l">
              <a:def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800" b="1" i="0">
                <a:solidFill>
                  <a:srgbClr val="FFFFFF"/>
                </a:solidFill>
                <a:latin typeface="Liberation Sans"/>
                <a:ea typeface="Liberation Sans"/>
                <a:cs typeface="Liberation Sans"/>
              </a:rPr>
              <a:t>Engineers approve.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28A050-EC7E-4D4E-A2EA-3FC33A3F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57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C6D9D3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0" i="0">
                <a:solidFill>
                  <a:srgbClr val="C6D9D3"/>
                </a:solidFill>
                <a:latin typeface="Liberation Sans"/>
                <a:ea typeface="Liberation Sans"/>
                <a:cs typeface="Liberation Sans"/>
              </a:rPr>
              <a:t>TraceLab turns a bug report into competing hypotheses, isolated experiments, reproducible proof and a diagnosis an engineer can audit.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49599F-5CF7-4D83-A570-13F5116E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047750"/>
            <a:ext cx="3429000" cy="41719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9A2D2-F473-4595-B39B-69A69112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09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PROJECT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786026-A0D9-4E70-940B-A24546BD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52600"/>
            <a:ext cx="247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400" b="1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5A39A-3DBF-4542-AB1F-D17BE644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1935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5F0F4F-306E-4DCE-8F46-D11D5E802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24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PUBLIC REPOSITORY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92BC9-A269-4E9C-941C-501DE36E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099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rPr>
              <a:t>github.com/</a:t>
            </a:r>
          </a:p>
          <a:p xmlns:a="http://schemas.openxmlformats.org/drawingml/2006/main">
            <a:pPr algn="l">
              <a:defRPr sz="1050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050" b="1" i="0">
                <a:solidFill>
                  <a:srgbClr val="18312E"/>
                </a:solidFill>
                <a:latin typeface="DejaVu Sans Mono"/>
                <a:ea typeface="DejaVu Sans Mono"/>
                <a:cs typeface="DejaVu Sans Mono"/>
              </a:rPr>
              <a:t>yasshhhraj/tracelab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B7178-7709-4AA1-A002-EEAE1B35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338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E1"/>
          </a:solidFill>
          <a:ln xmlns:a="http://schemas.openxmlformats.org/drawingml/2006/main" w="0">
            <a:solidFill>
              <a:srgbClr val="DCE6E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AD1E8-2E74-4CBA-BC73-1C2A2195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386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00" b="1" i="0">
                <a:solidFill>
                  <a:srgbClr val="126C5C"/>
                </a:solidFill>
                <a:latin typeface="Liberation Sans"/>
                <a:ea typeface="Liberation Sans"/>
                <a:cs typeface="Liberation Sans"/>
              </a:rPr>
              <a:t>TECHNOLOGY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FEA793-E94C-4E63-859A-29CBF0A9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815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Python · FastAPI · asyncio</a:t>
            </a:r>
          </a:p>
          <a:p xmlns:a="http://schemas.openxmlformats.org/drawingml/2006/main">
            <a:pPr algn="l">
              <a:def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 i="0">
                <a:solidFill>
                  <a:srgbClr val="18312E"/>
                </a:solidFill>
                <a:latin typeface="Liberation Sans"/>
                <a:ea typeface="Liberation Sans"/>
                <a:cs typeface="Liberation Sans"/>
              </a:rPr>
              <a:t>Next.js · PostgreSQL · Git worktrees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ACCE6-EBFA-4274-82AE-5EBD2BB9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1575" b="1" i="0">
                <a:solidFill>
                  <a:srgbClr val="F0C56B"/>
                </a:solidFill>
                <a:latin typeface="DejaVu Sans Mono"/>
                <a:ea typeface="DejaVu Sans Mono"/>
                <a:cs typeface="DejaVu Sans Mono"/>
              </a:rPr>
              <a:t>Hypothesis → Experiment → Evidence →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ADD3B-418C-4F27-827D-A9C3F5FF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704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0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Agentic AI · Debugging · Testing · Developer Tools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B2BBAD-9855-4756-9E5D-92C497C4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625D"/>
          </a:solidFill>
          <a:ln xmlns:a="http://schemas.openxmlformats.org/drawingml/2006/main" w="0">
            <a:solidFill>
              <a:srgbClr val="45625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854026-4189-4098-ADB4-0E1099F8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A9C1BA"/>
                </a:solidFill>
                <a:latin typeface="Liberation Sans"/>
                <a:ea typeface="Liberation Sans"/>
                <a:cs typeface="Liberation Sans"/>
              </a:rPr>
              <a:t>TRACELAB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5B6847-3E6E-4E30-96E0-3C16984E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722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0" b="1" i="0">
                <a:solidFill>
                  <a:srgbClr val="8ADCC4"/>
                </a:solidFill>
                <a:latin typeface="Liberation Sans"/>
                <a:ea typeface="Liberation Sans"/>
                <a:cs typeface="Liberation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284656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2026-09-26T16:12:55.5430000Z</dcterms:created>
  <dcterms:modified xsi:type="dcterms:W3CDTF">2026-09-26T16:12:55.5440000Z</dcterms:modified>
</coreProperties>
</file>